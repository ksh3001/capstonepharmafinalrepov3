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3B1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3B1D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2801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53035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DCFF"/>
                </a:solidFill>
                <a:latin typeface="Calibri"/>
              </a:rPr>
              <a:t>Advisory HITL evidence console  ·  Engines classify  ·  Humans decide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25603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Calibri"/>
              </a:rPr>
              <a:t>Batch  ·  PV  ·  Supply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097280"/>
            <a:ext cx="109728" cy="1143000"/>
          </a:xfrm>
          <a:prstGeom prst="rect">
            <a:avLst/>
          </a:prstGeom>
          <a:solidFill>
            <a:srgbClr val="1F9D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9D6A"/>
                </a:solidFill>
                <a:latin typeface="Calibri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Injects covered
81 rule + 3 artefact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40280" y="1097280"/>
            <a:ext cx="109728" cy="114300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41448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6F42C1"/>
                </a:solidFill>
                <a:latin typeface="Calibri"/>
              </a:rPr>
              <a:t>358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41448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Automated tests
unittest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06240" y="1097280"/>
            <a:ext cx="109728" cy="114300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7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A45"/>
                </a:solidFill>
                <a:latin typeface="Calibri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7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Runtime roles
entitlement matrix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1097280"/>
            <a:ext cx="109728" cy="1143000"/>
          </a:xfrm>
          <a:prstGeom prst="rect">
            <a:avLst/>
          </a:prstGeom>
          <a:solidFill>
            <a:srgbClr val="4D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4DA6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73368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Declared agents
AG-1 … AG-6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3816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38160" y="1097280"/>
            <a:ext cx="109728" cy="1143000"/>
          </a:xfrm>
          <a:prstGeom prst="rect">
            <a:avLst/>
          </a:prstGeom>
          <a:solidFill>
            <a:srgbClr val="3D5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39328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D5AFE"/>
                </a:solidFill>
                <a:latin typeface="Calibri"/>
              </a:rPr>
              <a:t>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8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Feature specs
146 BR · 204 AC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1097280"/>
            <a:ext cx="1874519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104120" y="1097280"/>
            <a:ext cx="109728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05288" y="118872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D9488"/>
                </a:solidFill>
                <a:latin typeface="Calibri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1691640"/>
            <a:ext cx="15544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B8494"/>
                </a:solidFill>
                <a:latin typeface="Calibri"/>
              </a:rPr>
              <a:t>Workflows live
11 catalog ids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2377440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Three mandated workflows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" y="2697480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74320" y="2697480"/>
            <a:ext cx="3703320" cy="91440"/>
          </a:xfrm>
          <a:prstGeom prst="rect">
            <a:avLst/>
          </a:prstGeom>
          <a:solidFill>
            <a:srgbClr val="6F42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28529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F42C1"/>
                </a:solidFill>
                <a:latin typeface="Calibri"/>
              </a:rPr>
              <a:t>Batch evidence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" y="312724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344"/>
                </a:solidFill>
                <a:latin typeface="Calibri"/>
              </a:rPr>
              <a:t>NCB204-B24071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" y="3364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Quality holds · contradictions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Forced evidence before 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60520" y="2697480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60520" y="2697480"/>
            <a:ext cx="3703320" cy="91440"/>
          </a:xfrm>
          <a:prstGeom prst="rect">
            <a:avLst/>
          </a:prstGeom>
          <a:solidFill>
            <a:srgbClr val="FF7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25112" y="28529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A45"/>
                </a:solidFill>
                <a:latin typeface="Calibri"/>
              </a:rPr>
              <a:t>PV intake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25112" y="312724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344"/>
                </a:solidFill>
                <a:latin typeface="Calibri"/>
              </a:rPr>
              <a:t>PV-1001 · SM-77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3364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Clocks · duplicates · listedness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Never confirms a signal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46720" y="2697480"/>
            <a:ext cx="37033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0" y="2697480"/>
            <a:ext cx="3703320" cy="91440"/>
          </a:xfrm>
          <a:prstGeom prst="rect">
            <a:avLst/>
          </a:prstGeom>
          <a:solidFill>
            <a:srgbClr val="4D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11312" y="28529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DA6FF"/>
                </a:solidFill>
                <a:latin typeface="Calibri"/>
              </a:rPr>
              <a:t>Supply / cold-chain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11312" y="3127248"/>
            <a:ext cx="33832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C3344"/>
                </a:solidFill>
                <a:latin typeface="Calibri"/>
              </a:rPr>
              <a:t>SH-901 · shortage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11312" y="3364992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Draft options only</a:t>
            </a:r>
          </a:p>
          <a:p>
            <a:pPr algn="l">
              <a:spcAft>
                <a:spcPts val="100"/>
              </a:spcAft>
            </a:pPr>
            <a:r>
              <a:rPr sz="1100">
                <a:solidFill>
                  <a:srgbClr val="7B8494"/>
                </a:solidFill>
                <a:latin typeface="Calibri"/>
              </a:rPr>
              <a:t>No stock movement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4069080"/>
            <a:ext cx="38862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41605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7 runtime roles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" y="4480560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EU Qualified Person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Safety physician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Supply governance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Quality reviewer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CISO / DPO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Auditor (read-only)</a:t>
            </a:r>
          </a:p>
          <a:p>
            <a:pPr algn="l">
              <a:spcAft>
                <a:spcPts val="3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•  Unblinding authority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4069080"/>
            <a:ext cx="388620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62272" y="4160520"/>
            <a:ext cx="3566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6 agents · control stack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62272" y="4480560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AG-1 Supervisor  ·  approve interrupt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AG-2 Evidence retrieval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AG-3 Batch  ·  AG-4 PV  ·  AG-5 Supply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AG-6 Review packager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Deny-list  ·  kill switch  ·  residency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23 control-map rows  ·  11 ADRs</a:t>
            </a:r>
          </a:p>
          <a:p>
            <a:pPr algn="l">
              <a:spcAft>
                <a:spcPts val="200"/>
              </a:spcAft>
            </a:pPr>
            <a:r>
              <a:rPr sz="1200">
                <a:solidFill>
                  <a:srgbClr val="2C3344"/>
                </a:solidFill>
                <a:latin typeface="Calibri"/>
              </a:rPr>
              <a:t>5 modes: assessment → cloud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321040" y="4069080"/>
            <a:ext cx="3566160" cy="2331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485632" y="41605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B1D6E"/>
                </a:solidFill>
                <a:latin typeface="Calibri"/>
              </a:rPr>
              <a:t>Run in 3 steps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85632" y="4480560"/>
            <a:ext cx="3246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100">
                <a:solidFill>
                  <a:srgbClr val="2C3344"/>
                </a:solidFill>
                <a:latin typeface="Calibri"/>
              </a:rPr>
              <a:t>1  pip install -r requirements-ui.txt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2C3344"/>
                </a:solidFill>
                <a:latin typeface="Calibri"/>
              </a:rPr>
              <a:t>2  python -m aegis setup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2C3344"/>
                </a:solidFill>
                <a:latin typeface="Calibri"/>
              </a:rPr>
              <a:t>3  python -m aegis serve --port 8000</a:t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2C3344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00">
                <a:solidFill>
                  <a:srgbClr val="2C3344"/>
                </a:solidFill>
                <a:latin typeface="Calibri"/>
              </a:rPr>
              <a:t>http://127.0.0.1:8000/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85632" y="5806440"/>
            <a:ext cx="3246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7A45"/>
                </a:solidFill>
                <a:latin typeface="Calibri"/>
              </a:rPr>
              <a:t>Not a disposition / PV-decision /
stock-movement / recall system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20040" y="658368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4C4F0"/>
                </a:solidFill>
                <a:latin typeface="Calibri"/>
              </a:rPr>
              <a:t>AEGIS  ·  FDE capstone one-pager  ·  84/84 injects  ·  358 tests  ·  synthetic fixtures  ·  advisory posture (not certified)  ·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